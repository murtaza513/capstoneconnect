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7" r:id="rId2"/>
    <p:sldId id="258" r:id="rId3"/>
    <p:sldId id="259" r:id="rId4"/>
    <p:sldId id="270" r:id="rId5"/>
    <p:sldId id="267" r:id="rId6"/>
    <p:sldId id="269" r:id="rId7"/>
    <p:sldId id="273" r:id="rId8"/>
    <p:sldId id="271" r:id="rId9"/>
    <p:sldId id="277" r:id="rId10"/>
    <p:sldId id="276" r:id="rId11"/>
    <p:sldId id="275" r:id="rId12"/>
    <p:sldId id="283" r:id="rId13"/>
    <p:sldId id="284" r:id="rId14"/>
    <p:sldId id="278" r:id="rId15"/>
    <p:sldId id="279" r:id="rId16"/>
    <p:sldId id="280" r:id="rId17"/>
    <p:sldId id="281" r:id="rId18"/>
    <p:sldId id="282" r:id="rId19"/>
    <p:sldId id="26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8909"/>
    <a:srgbClr val="E37E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232" autoAdjust="0"/>
    <p:restoredTop sz="94660"/>
  </p:normalViewPr>
  <p:slideViewPr>
    <p:cSldViewPr snapToGrid="0">
      <p:cViewPr>
        <p:scale>
          <a:sx n="120" d="100"/>
          <a:sy n="120" d="100"/>
        </p:scale>
        <p:origin x="-178" y="-5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42E8B-8A80-4821-9D47-8FA5A7B2ADF0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79F16A-2C50-4969-9474-2B0CC7EE1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89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79F16A-2C50-4969-9474-2B0CC7EE1A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55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3306E6-DC10-44A3-83DD-EDA3C03FF55B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663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3306E6-DC10-44A3-83DD-EDA3C03FF55B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3399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79F16A-2C50-4969-9474-2B0CC7EE1A4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22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14" Type="http://schemas.openxmlformats.org/officeDocument/2006/relationships/image" Target="../media/image12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155936" cy="9906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0824" y="6682154"/>
            <a:ext cx="2615284" cy="164126"/>
          </a:xfrm>
          <a:solidFill>
            <a:srgbClr val="E98909"/>
          </a:solidFill>
        </p:spPr>
        <p:txBody>
          <a:bodyPr/>
          <a:lstStyle>
            <a:lvl1pPr algn="r">
              <a:defRPr sz="13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CS-FYP    DHA Suffa University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2" y="6682153"/>
            <a:ext cx="5327666" cy="189917"/>
          </a:xfrm>
          <a:solidFill>
            <a:srgbClr val="C00000"/>
          </a:solidFill>
          <a:ln>
            <a:solidFill>
              <a:srgbClr val="C00000"/>
            </a:solidFill>
          </a:ln>
        </p:spPr>
        <p:txBody>
          <a:bodyPr/>
          <a:lstStyle>
            <a:lvl1pPr algn="l">
              <a:defRPr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2800" y="1395632"/>
            <a:ext cx="787400" cy="130174"/>
          </a:xfrm>
          <a:prstGeom prst="rect">
            <a:avLst/>
          </a:prstGeom>
          <a:solidFill>
            <a:srgbClr val="990000"/>
          </a:solidFill>
          <a:ln>
            <a:solidFill>
              <a:srgbClr val="C00000"/>
            </a:solidFill>
          </a:ln>
        </p:spPr>
        <p:txBody>
          <a:bodyPr>
            <a:noAutofit/>
          </a:bodyPr>
          <a:lstStyle>
            <a:lvl1pPr algn="ctr">
              <a:defRPr sz="1200" b="1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232136" cy="4479926"/>
          </a:xfrm>
        </p:spPr>
        <p:txBody>
          <a:bodyPr/>
          <a:lstStyle>
            <a:lvl1pPr>
              <a:buClr>
                <a:srgbClr val="008000"/>
              </a:buCl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1758462" y="1395632"/>
            <a:ext cx="9290538" cy="130174"/>
          </a:xfrm>
          <a:prstGeom prst="rect">
            <a:avLst/>
          </a:prstGeom>
          <a:solidFill>
            <a:srgbClr val="F86308"/>
          </a:solidFill>
          <a:ln>
            <a:solidFill>
              <a:srgbClr val="F86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108" y="252632"/>
            <a:ext cx="952500" cy="952500"/>
          </a:xfrm>
          <a:prstGeom prst="rect">
            <a:avLst/>
          </a:prstGeom>
        </p:spPr>
      </p:pic>
      <p:sp>
        <p:nvSpPr>
          <p:cNvPr id="10" name="Freeform 12"/>
          <p:cNvSpPr/>
          <p:nvPr userDrawn="1"/>
        </p:nvSpPr>
        <p:spPr>
          <a:xfrm>
            <a:off x="6680843" y="6541479"/>
            <a:ext cx="1309606" cy="330591"/>
          </a:xfrm>
          <a:custGeom>
            <a:avLst/>
            <a:gdLst/>
            <a:ahLst/>
            <a:cxnLst/>
            <a:rect l="l" t="t" r="r" b="b"/>
            <a:pathLst>
              <a:path w="2184126" h="730689">
                <a:moveTo>
                  <a:pt x="0" y="0"/>
                </a:moveTo>
                <a:lnTo>
                  <a:pt x="2184126" y="0"/>
                </a:lnTo>
                <a:lnTo>
                  <a:pt x="2184126" y="730689"/>
                </a:lnTo>
                <a:lnTo>
                  <a:pt x="0" y="7306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603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36799" y="2743200"/>
            <a:ext cx="8989484" cy="1676400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rgbClr val="008000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rgbClr val="F86308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solidFill>
            <a:srgbClr val="008000"/>
          </a:solidFill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>
                <a:solidFill>
                  <a:prstClr val="white"/>
                </a:solidFill>
              </a:rPr>
              <a:t>CS-FYP    DHA Suffa University 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727200" cy="70167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9EBC64C3-3FC7-4C40-910B-2643F037F0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solidFill>
            <a:srgbClr val="F86308"/>
          </a:solidFill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>
                <a:solidFill>
                  <a:prstClr val="white"/>
                </a:solidFill>
              </a:rPr>
              <a:t>Proect Name here 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3899346"/>
            <a:ext cx="1727200" cy="112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721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0" y="1272222"/>
            <a:ext cx="711200" cy="244476"/>
          </a:xfrm>
          <a:prstGeom prst="rect">
            <a:avLst/>
          </a:prstGeom>
        </p:spPr>
        <p:txBody>
          <a:bodyPr rtlCol="0"/>
          <a:lstStyle/>
          <a:p>
            <a:fld id="{9EBC64C3-3FC7-4C40-910B-2643F037F0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13"/>
          <p:cNvSpPr txBox="1">
            <a:spLocks/>
          </p:cNvSpPr>
          <p:nvPr userDrawn="1"/>
        </p:nvSpPr>
        <p:spPr>
          <a:xfrm>
            <a:off x="812801" y="6400607"/>
            <a:ext cx="7228111" cy="365125"/>
          </a:xfrm>
          <a:prstGeom prst="rect">
            <a:avLst/>
          </a:prstGeom>
          <a:solidFill>
            <a:srgbClr val="F86308"/>
          </a:solidFill>
        </p:spPr>
        <p:txBody>
          <a:bodyPr vert="horz" anchor="ctr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smtClean="0">
                <a:solidFill>
                  <a:prstClr val="white"/>
                </a:solidFill>
              </a:rPr>
              <a:t>Project name here</a:t>
            </a:r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15" name="Date Placeholder 11"/>
          <p:cNvSpPr>
            <a:spLocks noGrp="1"/>
          </p:cNvSpPr>
          <p:nvPr>
            <p:ph type="dt" sz="half" idx="10"/>
          </p:nvPr>
        </p:nvSpPr>
        <p:spPr>
          <a:xfrm>
            <a:off x="8128000" y="6416676"/>
            <a:ext cx="3556000" cy="365125"/>
          </a:xfrm>
          <a:solidFill>
            <a:srgbClr val="008000"/>
          </a:solidFill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>
                <a:solidFill>
                  <a:prstClr val="white"/>
                </a:solidFill>
              </a:rPr>
              <a:t>CS-FYP    DHA Suffa University </a:t>
            </a:r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en-US" smtClean="0">
                <a:solidFill>
                  <a:srgbClr val="775F55"/>
                </a:solidFill>
              </a:rPr>
              <a:t>CS-FYP    DHA Suffa University </a:t>
            </a:r>
            <a:endParaRPr lang="en-US">
              <a:solidFill>
                <a:srgbClr val="775F55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>
          <a:xfrm>
            <a:off x="0" y="1272222"/>
            <a:ext cx="711200" cy="244476"/>
          </a:xfrm>
          <a:prstGeom prst="rect">
            <a:avLst/>
          </a:prstGeom>
        </p:spPr>
        <p:txBody>
          <a:bodyPr rtlCol="0"/>
          <a:lstStyle/>
          <a:p>
            <a:fld id="{9EBC64C3-3FC7-4C40-910B-2643F037F0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 smtClean="0">
                <a:solidFill>
                  <a:srgbClr val="775F55"/>
                </a:solidFill>
              </a:rPr>
              <a:t>Proect Name here </a:t>
            </a:r>
            <a:endParaRPr lang="en-US">
              <a:solidFill>
                <a:srgbClr val="775F55"/>
              </a:solidFill>
            </a:endParaRP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8729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775F55"/>
                </a:solidFill>
              </a:rPr>
              <a:t>CS-FYP    DHA Suffa University </a:t>
            </a:r>
            <a:endParaRPr lang="en-US">
              <a:solidFill>
                <a:srgbClr val="775F55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775F55"/>
                </a:solidFill>
              </a:rPr>
              <a:t>Proect Name here </a:t>
            </a:r>
            <a:endParaRPr lang="en-US">
              <a:solidFill>
                <a:srgbClr val="775F55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711200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EBC64C3-3FC7-4C40-910B-2643F037F0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22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775F55"/>
                </a:solidFill>
              </a:rPr>
              <a:t>CS-FYP    DHA Suffa University </a:t>
            </a:r>
            <a:endParaRPr lang="en-US">
              <a:solidFill>
                <a:srgbClr val="775F55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775F55"/>
                </a:solidFill>
              </a:rPr>
              <a:t>Proect Name here </a:t>
            </a:r>
            <a:endParaRPr lang="en-US">
              <a:solidFill>
                <a:srgbClr val="775F55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BC64C3-3FC7-4C40-910B-2643F037F02C}" type="slidenum">
              <a:rPr lang="en-US" smtClean="0">
                <a:solidFill>
                  <a:srgbClr val="775F55"/>
                </a:solidFill>
              </a:rPr>
              <a:pPr/>
              <a:t>‹#›</a:t>
            </a:fld>
            <a:endParaRPr lang="en-US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058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775F55"/>
                </a:solidFill>
              </a:rPr>
              <a:t>CS-FYP    DHA Suffa University </a:t>
            </a:r>
            <a:endParaRPr lang="en-US">
              <a:solidFill>
                <a:srgbClr val="775F5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775F55"/>
                </a:solidFill>
              </a:rPr>
              <a:t>Proect Name here </a:t>
            </a:r>
            <a:endParaRPr lang="en-US">
              <a:solidFill>
                <a:srgbClr val="775F55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711200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EBC64C3-3FC7-4C40-910B-2643F037F0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818165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060448" y="4654296"/>
            <a:ext cx="101315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1"/>
            <a:ext cx="3556000" cy="365125"/>
          </a:xfrm>
        </p:spPr>
        <p:txBody>
          <a:bodyPr rtlCol="0"/>
          <a:lstStyle/>
          <a:p>
            <a:r>
              <a:rPr lang="en-US" smtClean="0">
                <a:solidFill>
                  <a:srgbClr val="775F55"/>
                </a:solidFill>
              </a:rPr>
              <a:t>CS-FYP    DHA Suffa University </a:t>
            </a:r>
            <a:endParaRPr lang="en-US">
              <a:solidFill>
                <a:srgbClr val="775F55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8"/>
          </a:xfrm>
          <a:prstGeom prst="rect">
            <a:avLst/>
          </a:prstGeom>
        </p:spPr>
        <p:txBody>
          <a:bodyPr rtlCol="0"/>
          <a:lstStyle>
            <a:lvl1pPr>
              <a:defRPr sz="2800"/>
            </a:lvl1pPr>
          </a:lstStyle>
          <a:p>
            <a:fld id="{9EBC64C3-3FC7-4C40-910B-2643F037F0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207"/>
            <a:ext cx="6096000" cy="365125"/>
          </a:xfrm>
        </p:spPr>
        <p:txBody>
          <a:bodyPr rtlCol="0"/>
          <a:lstStyle/>
          <a:p>
            <a:r>
              <a:rPr lang="en-US" smtClean="0">
                <a:solidFill>
                  <a:srgbClr val="775F55"/>
                </a:solidFill>
              </a:rPr>
              <a:t>Proect Name here </a:t>
            </a:r>
            <a:endParaRPr lang="en-US">
              <a:solidFill>
                <a:srgbClr val="775F55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8596474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775F55"/>
                </a:solidFill>
              </a:rPr>
              <a:t>CS-FYP    DHA Suffa University </a:t>
            </a:r>
            <a:endParaRPr lang="en-US">
              <a:solidFill>
                <a:srgbClr val="775F55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775F55"/>
                </a:solidFill>
              </a:rPr>
              <a:t>Proect Name here </a:t>
            </a:r>
            <a:endParaRPr lang="en-US">
              <a:solidFill>
                <a:srgbClr val="775F55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711200" cy="244476"/>
          </a:xfrm>
          <a:prstGeom prst="rect">
            <a:avLst/>
          </a:prstGeom>
        </p:spPr>
        <p:txBody>
          <a:bodyPr/>
          <a:lstStyle/>
          <a:p>
            <a:fld id="{9EBC64C3-3FC7-4C40-910B-2643F037F0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3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03"/>
            <a:ext cx="2946400" cy="365125"/>
          </a:xfrm>
        </p:spPr>
        <p:txBody>
          <a:bodyPr/>
          <a:lstStyle/>
          <a:p>
            <a:r>
              <a:rPr lang="en-US" smtClean="0">
                <a:solidFill>
                  <a:srgbClr val="775F55"/>
                </a:solidFill>
              </a:rPr>
              <a:t>CS-FYP    DHA Suffa University </a:t>
            </a:r>
            <a:endParaRPr lang="en-US">
              <a:solidFill>
                <a:srgbClr val="775F55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2" y="6248208"/>
            <a:ext cx="7431311" cy="365125"/>
          </a:xfrm>
        </p:spPr>
        <p:txBody>
          <a:bodyPr/>
          <a:lstStyle/>
          <a:p>
            <a:r>
              <a:rPr lang="en-US" smtClean="0">
                <a:solidFill>
                  <a:srgbClr val="775F55"/>
                </a:solidFill>
              </a:rPr>
              <a:t>Proect Name here </a:t>
            </a:r>
            <a:endParaRPr lang="en-US">
              <a:solidFill>
                <a:srgbClr val="775F55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8128424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  <a:prstGeom prst="rect">
            <a:avLst/>
          </a:prstGeom>
        </p:spPr>
        <p:txBody>
          <a:bodyPr/>
          <a:lstStyle/>
          <a:p>
            <a:fld id="{9EBC64C3-3FC7-4C40-910B-2643F037F0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38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816864" y="1600200"/>
            <a:ext cx="108712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>
                <a:solidFill>
                  <a:srgbClr val="775F55"/>
                </a:solidFill>
              </a:rPr>
              <a:t>CS-FYP    DHA Suffa University </a:t>
            </a:r>
            <a:endParaRPr lang="en-US">
              <a:solidFill>
                <a:srgbClr val="775F55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12801" y="6248207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>
                <a:solidFill>
                  <a:srgbClr val="775F55"/>
                </a:solidFill>
              </a:rPr>
              <a:t>Proect Name here </a:t>
            </a:r>
            <a:endParaRPr lang="en-US">
              <a:solidFill>
                <a:srgbClr val="775F55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8080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1apoqfz2By7jI_9HFvk14u2crz_xeoh6tHoWciTqNw7w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55600" y="458034"/>
            <a:ext cx="7594602" cy="1410829"/>
          </a:xfrm>
          <a:prstGeom prst="rect">
            <a:avLst/>
          </a:prstGeom>
          <a:solidFill>
            <a:srgbClr val="E37E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solidFill>
                  <a:prstClr val="white"/>
                </a:solidFill>
              </a:rPr>
              <a:t>CapstoneConnect</a:t>
            </a:r>
            <a:endParaRPr lang="en-US" sz="36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83629" y="3296214"/>
            <a:ext cx="511719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prstClr val="black"/>
                </a:solidFill>
                <a:latin typeface="Calibri" pitchFamily="34" charset="0"/>
              </a:rPr>
              <a:t>Ayushmann Kukreja</a:t>
            </a:r>
          </a:p>
          <a:p>
            <a:pPr algn="ctr"/>
            <a:r>
              <a:rPr lang="en-US" sz="2000" dirty="0" err="1" smtClean="0">
                <a:solidFill>
                  <a:prstClr val="black"/>
                </a:solidFill>
                <a:latin typeface="Calibri" pitchFamily="34" charset="0"/>
              </a:rPr>
              <a:t>Murtaza</a:t>
            </a:r>
            <a:r>
              <a:rPr lang="en-US" sz="2000" dirty="0" smtClean="0">
                <a:solidFill>
                  <a:prstClr val="black"/>
                </a:solidFill>
                <a:latin typeface="Calibri" pitchFamily="34" charset="0"/>
              </a:rPr>
              <a:t> Mehdi</a:t>
            </a:r>
            <a:endParaRPr lang="en-US" sz="2000" dirty="0">
              <a:solidFill>
                <a:prstClr val="black"/>
              </a:solidFill>
              <a:latin typeface="Calibri" pitchFamily="34" charset="0"/>
            </a:endParaRPr>
          </a:p>
          <a:p>
            <a:pPr algn="ctr"/>
            <a:r>
              <a:rPr lang="en-US" sz="2000" dirty="0" smtClean="0">
                <a:solidFill>
                  <a:prstClr val="black"/>
                </a:solidFill>
                <a:latin typeface="Calibri" pitchFamily="34" charset="0"/>
              </a:rPr>
              <a:t>Abdul </a:t>
            </a:r>
            <a:r>
              <a:rPr lang="en-US" sz="2000" dirty="0" err="1" smtClean="0">
                <a:solidFill>
                  <a:prstClr val="black"/>
                </a:solidFill>
                <a:latin typeface="Calibri" pitchFamily="34" charset="0"/>
              </a:rPr>
              <a:t>Rehman</a:t>
            </a:r>
            <a:r>
              <a:rPr lang="en-US" sz="2000" dirty="0" smtClean="0">
                <a:solidFill>
                  <a:prstClr val="black"/>
                </a:solidFill>
                <a:latin typeface="Calibri" pitchFamily="34" charset="0"/>
              </a:rPr>
              <a:t> Khan</a:t>
            </a:r>
            <a:endParaRPr lang="en-US" sz="2000" dirty="0">
              <a:solidFill>
                <a:prstClr val="black"/>
              </a:solidFill>
              <a:latin typeface="Calibri" pitchFamily="34" charset="0"/>
            </a:endParaRPr>
          </a:p>
          <a:p>
            <a:pPr algn="ctr"/>
            <a:r>
              <a:rPr lang="en-US" sz="2000" dirty="0" smtClean="0">
                <a:solidFill>
                  <a:prstClr val="black"/>
                </a:solidFill>
                <a:latin typeface="Calibri" pitchFamily="34" charset="0"/>
              </a:rPr>
              <a:t>Ms. Urooj Waheed</a:t>
            </a:r>
            <a:endParaRPr lang="en-US" sz="2000" dirty="0">
              <a:solidFill>
                <a:prstClr val="black"/>
              </a:solidFill>
              <a:latin typeface="Calibri" pitchFamily="34" charset="0"/>
            </a:endParaRPr>
          </a:p>
          <a:p>
            <a:pPr algn="ctr"/>
            <a:r>
              <a:rPr lang="en-US" sz="2000" dirty="0" smtClean="0">
                <a:solidFill>
                  <a:prstClr val="black"/>
                </a:solidFill>
                <a:latin typeface="Calibri" pitchFamily="34" charset="0"/>
              </a:rPr>
              <a:t>Ms. </a:t>
            </a:r>
            <a:r>
              <a:rPr lang="en-US" sz="2000" dirty="0" err="1" smtClean="0">
                <a:solidFill>
                  <a:prstClr val="black"/>
                </a:solidFill>
                <a:latin typeface="Calibri" pitchFamily="34" charset="0"/>
              </a:rPr>
              <a:t>Yusra</a:t>
            </a:r>
            <a:r>
              <a:rPr lang="en-US" sz="2000" dirty="0" smtClean="0">
                <a:solidFill>
                  <a:prstClr val="black"/>
                </a:solidFill>
                <a:latin typeface="Calibri" pitchFamily="34" charset="0"/>
              </a:rPr>
              <a:t> </a:t>
            </a:r>
            <a:r>
              <a:rPr lang="en-US" sz="2000" dirty="0" err="1" smtClean="0">
                <a:solidFill>
                  <a:prstClr val="black"/>
                </a:solidFill>
                <a:latin typeface="Calibri" pitchFamily="34" charset="0"/>
              </a:rPr>
              <a:t>Mansoor</a:t>
            </a:r>
            <a:r>
              <a:rPr lang="en-US" sz="2000" dirty="0" smtClean="0">
                <a:solidFill>
                  <a:prstClr val="black"/>
                </a:solidFill>
                <a:latin typeface="Calibri" pitchFamily="34" charset="0"/>
              </a:rPr>
              <a:t>  </a:t>
            </a:r>
            <a:endParaRPr lang="en-US" sz="2000" dirty="0">
              <a:solidFill>
                <a:prstClr val="black"/>
              </a:solidFill>
              <a:latin typeface="Calibri" pitchFamily="34" charset="0"/>
            </a:endParaRPr>
          </a:p>
          <a:p>
            <a:pPr algn="ctr"/>
            <a:r>
              <a:rPr lang="en-US" sz="2000" dirty="0">
                <a:solidFill>
                  <a:prstClr val="black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21" name="Isosceles Triangle 20"/>
          <p:cNvSpPr/>
          <p:nvPr/>
        </p:nvSpPr>
        <p:spPr>
          <a:xfrm flipV="1">
            <a:off x="3505200" y="4419599"/>
            <a:ext cx="838200" cy="8382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45435" y="2019300"/>
            <a:ext cx="7574012" cy="10492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841094" y="6084282"/>
            <a:ext cx="6172200" cy="495298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prstClr val="white"/>
                </a:solidFill>
              </a:rPr>
              <a:t>DHA </a:t>
            </a:r>
            <a:r>
              <a:rPr lang="en-US" sz="2000" dirty="0" err="1">
                <a:solidFill>
                  <a:prstClr val="white"/>
                </a:solidFill>
              </a:rPr>
              <a:t>Suffa</a:t>
            </a:r>
            <a:r>
              <a:rPr lang="en-US" sz="2000" dirty="0">
                <a:solidFill>
                  <a:prstClr val="white"/>
                </a:solidFill>
              </a:rPr>
              <a:t> University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44483" y="6648290"/>
            <a:ext cx="6168811" cy="152400"/>
          </a:xfrm>
          <a:prstGeom prst="rect">
            <a:avLst/>
          </a:prstGeom>
          <a:solidFill>
            <a:srgbClr val="F863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4989971"/>
            <a:ext cx="1637172" cy="163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054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12799" y="1900043"/>
            <a:ext cx="6942016" cy="4177200"/>
          </a:xfrm>
        </p:spPr>
        <p:txBody>
          <a:bodyPr>
            <a:normAutofit/>
          </a:bodyPr>
          <a:lstStyle/>
          <a:p>
            <a:r>
              <a:rPr lang="en-US" dirty="0" smtClean="0"/>
              <a:t>Introduction / Idea</a:t>
            </a:r>
          </a:p>
          <a:p>
            <a:r>
              <a:rPr lang="en-US" dirty="0"/>
              <a:t>Jury Members and stakeholders </a:t>
            </a:r>
            <a:r>
              <a:rPr lang="en-US" dirty="0" smtClean="0"/>
              <a:t>Feedback</a:t>
            </a:r>
          </a:p>
          <a:p>
            <a:r>
              <a:rPr lang="en-US" dirty="0"/>
              <a:t>Work Done with respect to Proposed </a:t>
            </a:r>
            <a:r>
              <a:rPr lang="en-US" dirty="0" smtClean="0"/>
              <a:t>Plan</a:t>
            </a:r>
          </a:p>
          <a:p>
            <a:r>
              <a:rPr lang="en-US" dirty="0"/>
              <a:t>Demo of work done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/>
                </a:solidFill>
              </a:rPr>
              <a:t>CapstoneConnect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2799" y="1295133"/>
            <a:ext cx="787400" cy="213360"/>
          </a:xfrm>
        </p:spPr>
        <p:txBody>
          <a:bodyPr/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0"/>
          </p:nvPr>
        </p:nvSpPr>
        <p:spPr>
          <a:xfrm>
            <a:off x="8530824" y="6541480"/>
            <a:ext cx="2578940" cy="304800"/>
          </a:xfrm>
        </p:spPr>
        <p:txBody>
          <a:bodyPr/>
          <a:lstStyle/>
          <a:p>
            <a:r>
              <a:rPr lang="en-US" smtClean="0"/>
              <a:t>CS-FYP    DHA Suffa University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537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/ Idea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Empowering </a:t>
            </a:r>
            <a:r>
              <a:rPr lang="en-US" dirty="0"/>
              <a:t>capstone projects: Introducing a centralized portal for seamless project selection and communication. Enhance your project journey with transparency and enriched learning experiences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/>
                </a:solidFill>
              </a:rPr>
              <a:t>CapstoneConnect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CS-FYP    DHA Suffa University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2802" y="1315645"/>
            <a:ext cx="787400" cy="204568"/>
          </a:xfrm>
        </p:spPr>
        <p:txBody>
          <a:bodyPr/>
          <a:lstStyle/>
          <a:p>
            <a:r>
              <a:rPr lang="en-US" dirty="0" smtClean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798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Jury Members and stakeholders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Feedback Received: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"Need to work on scope. Scope is small as per understanding. Project presentation and document needs to be improved</a:t>
            </a:r>
            <a:r>
              <a:rPr lang="en-US" dirty="0" smtClean="0"/>
              <a:t>.“</a:t>
            </a:r>
          </a:p>
          <a:p>
            <a:r>
              <a:rPr lang="en-US" b="1" dirty="0" smtClean="0"/>
              <a:t>Action:</a:t>
            </a:r>
            <a:endParaRPr lang="en-US" dirty="0"/>
          </a:p>
          <a:p>
            <a:r>
              <a:rPr lang="en-US" b="1" dirty="0"/>
              <a:t>Expanded Project Scope:</a:t>
            </a:r>
            <a:endParaRPr lang="en-US" dirty="0"/>
          </a:p>
          <a:p>
            <a:pPr lvl="1"/>
            <a:r>
              <a:rPr lang="en-US" dirty="0"/>
              <a:t>Implemented a new feature to enhance project evaluation.</a:t>
            </a:r>
          </a:p>
          <a:p>
            <a:pPr lvl="1"/>
            <a:r>
              <a:rPr lang="en-US" dirty="0"/>
              <a:t>Introduced similarity detection mechanism for submitted project abstracts.</a:t>
            </a:r>
          </a:p>
          <a:p>
            <a:pPr lvl="1"/>
            <a:r>
              <a:rPr lang="en-US" dirty="0"/>
              <a:t>Ensures uniqueness and promotes originality.</a:t>
            </a:r>
          </a:p>
          <a:p>
            <a:r>
              <a:rPr lang="en-US" b="1" dirty="0"/>
              <a:t>Improved Presentation and Documentation:</a:t>
            </a:r>
            <a:endParaRPr lang="en-US" dirty="0"/>
          </a:p>
          <a:p>
            <a:pPr lvl="1"/>
            <a:r>
              <a:rPr lang="en-US" dirty="0"/>
              <a:t>Enhanced quality and thoroughness of project presentation.</a:t>
            </a:r>
          </a:p>
          <a:p>
            <a:pPr lvl="1"/>
            <a:r>
              <a:rPr lang="en-US" dirty="0"/>
              <a:t>Detailed explanations of objectives, methodology, and outcomes.</a:t>
            </a:r>
          </a:p>
          <a:p>
            <a:pPr lvl="1"/>
            <a:r>
              <a:rPr lang="en-US" dirty="0"/>
              <a:t>Revised and expanded documentation for clearer insights.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</a:rPr>
              <a:t>CapstoneConnect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CS-FYP    DHA Suffa University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2802" y="1315645"/>
            <a:ext cx="787400" cy="204568"/>
          </a:xfrm>
        </p:spPr>
        <p:txBody>
          <a:bodyPr/>
          <a:lstStyle/>
          <a:p>
            <a:r>
              <a:rPr lang="en-US" dirty="0" smtClean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923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Work </a:t>
            </a:r>
            <a:r>
              <a:rPr lang="en-US" dirty="0"/>
              <a:t>Done with respect to Proposed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Requirement Gathering Phase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Conducted surveys among students and supervisors.</a:t>
            </a:r>
          </a:p>
          <a:p>
            <a:pPr lvl="1"/>
            <a:r>
              <a:rPr lang="en-US" dirty="0"/>
              <a:t>Result: Around 90% of students and 95% of supervisors expressed the need for a dedicated FYP portal.</a:t>
            </a:r>
          </a:p>
          <a:p>
            <a:r>
              <a:rPr lang="en-US" b="1" dirty="0"/>
              <a:t>Analysis and Design Phase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Backend Development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Created a comprehensive structure for ASP.NET Core application.</a:t>
            </a:r>
          </a:p>
          <a:p>
            <a:pPr lvl="2"/>
            <a:r>
              <a:rPr lang="en-US" dirty="0"/>
              <a:t>Remaining: Adding business logic layers.</a:t>
            </a:r>
          </a:p>
          <a:p>
            <a:pPr lvl="1"/>
            <a:r>
              <a:rPr lang="en-US" b="1" dirty="0"/>
              <a:t>User Interface Design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Designed initial Figma layouts for student, supervisor, and administrator panels.</a:t>
            </a:r>
          </a:p>
          <a:p>
            <a:pPr lvl="1"/>
            <a:r>
              <a:rPr lang="en-US" b="1" dirty="0"/>
              <a:t>Database Design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Decision: Adopting the </a:t>
            </a:r>
            <a:r>
              <a:rPr lang="en-US" dirty="0" smtClean="0"/>
              <a:t>DB-first </a:t>
            </a:r>
            <a:r>
              <a:rPr lang="en-US" dirty="0"/>
              <a:t>approach in ASP.NET Core application.</a:t>
            </a:r>
          </a:p>
          <a:p>
            <a:r>
              <a:rPr lang="en-US" b="1" dirty="0"/>
              <a:t>Development and Implementation Phase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Created the majority of screens for </a:t>
            </a:r>
            <a:r>
              <a:rPr lang="en-US" dirty="0" smtClean="0"/>
              <a:t>students, supervisors</a:t>
            </a:r>
            <a:r>
              <a:rPr lang="en-US" dirty="0"/>
              <a:t> </a:t>
            </a:r>
            <a:r>
              <a:rPr lang="en-US" dirty="0" smtClean="0"/>
              <a:t>and administrator</a:t>
            </a:r>
            <a:endParaRPr lang="en-US" dirty="0"/>
          </a:p>
          <a:p>
            <a:pPr lvl="1"/>
            <a:r>
              <a:rPr lang="en-US" dirty="0"/>
              <a:t>Remaining: Finalizing few modifications for enhanced usability and functionality.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</a:rPr>
              <a:t>CapstoneConnect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CS-FYP    DHA Suffa University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2802" y="1354014"/>
            <a:ext cx="787400" cy="210723"/>
          </a:xfrm>
        </p:spPr>
        <p:txBody>
          <a:bodyPr/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83929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Demo of work 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Front-End</a:t>
            </a:r>
          </a:p>
          <a:p>
            <a:r>
              <a:rPr lang="en-US" dirty="0" smtClean="0"/>
              <a:t>Login</a:t>
            </a:r>
            <a:endParaRPr lang="en-US" dirty="0" smtClean="0"/>
          </a:p>
          <a:p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/>
                </a:solidFill>
              </a:rPr>
              <a:t>CapstoneConnect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CS-FYP    DHA Suffa University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image15.jp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206499" y="2855495"/>
            <a:ext cx="9381289" cy="352005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521460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Demo of work 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Student Dashboard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/>
                </a:solidFill>
              </a:rPr>
              <a:t>CapstoneConnect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CS-FYP    DHA Suffa University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image16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12800" y="2209190"/>
            <a:ext cx="10753558" cy="387093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610798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Demo of work 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Available </a:t>
            </a:r>
            <a:r>
              <a:rPr lang="en-US" dirty="0"/>
              <a:t>Supervisors List</a:t>
            </a:r>
            <a:endParaRPr lang="en-US" dirty="0" smtClean="0"/>
          </a:p>
          <a:p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/>
                </a:solidFill>
              </a:rPr>
              <a:t>CapstoneConnect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CS-FYP    DHA Suffa University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image6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12800" y="2307662"/>
            <a:ext cx="10480842" cy="384685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661186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Demo of work 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Submission </a:t>
            </a:r>
            <a:r>
              <a:rPr lang="en-US" dirty="0"/>
              <a:t>Portal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/>
                </a:solidFill>
              </a:rPr>
              <a:t>CapstoneConnect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CS-FYP    DHA Suffa University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image19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85800" y="2220032"/>
            <a:ext cx="10460308" cy="386009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372605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Demo of work 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Previous Project Repository</a:t>
            </a:r>
          </a:p>
          <a:p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/>
                </a:solidFill>
              </a:rPr>
              <a:t>CapstoneConnect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CS-FYP    DHA Suffa University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image1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12800" y="2411486"/>
            <a:ext cx="10333308" cy="366864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18520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Demo of work 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FYP Calendar</a:t>
            </a:r>
          </a:p>
          <a:p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/>
                </a:solidFill>
              </a:rPr>
              <a:t>CapstoneConnect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CS-FYP    DHA Suffa University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image4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12800" y="2212340"/>
            <a:ext cx="10160000" cy="394218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237181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Demo of work 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Supervisor Dashboard</a:t>
            </a:r>
          </a:p>
          <a:p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/>
                </a:solidFill>
              </a:rPr>
              <a:t>CapstoneConnect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CS-FYP    DHA Suffa University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96" y="2127832"/>
            <a:ext cx="10055682" cy="3952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099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Demo of work 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Project View</a:t>
            </a:r>
          </a:p>
          <a:p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/>
                </a:solidFill>
              </a:rPr>
              <a:t>CapstoneConnect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CS-FYP    DHA Suffa University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2154350"/>
            <a:ext cx="9794862" cy="400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2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Demo of work 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Project </a:t>
            </a:r>
            <a:r>
              <a:rPr lang="en-US" dirty="0"/>
              <a:t>Proposal View for </a:t>
            </a:r>
            <a:r>
              <a:rPr lang="en-US" dirty="0" smtClean="0"/>
              <a:t>Supervisor</a:t>
            </a:r>
          </a:p>
          <a:p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/>
                </a:solidFill>
              </a:rPr>
              <a:t>CapstoneConnect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CS-FYP    DHA Suffa University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912" y="2127833"/>
            <a:ext cx="10152088" cy="422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237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Demo of work 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List Of Queries: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/>
                </a:solidFill>
              </a:rPr>
              <a:t>CapstoneConnect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CS-FYP    DHA Suffa University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image13.jp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974558" y="2306420"/>
            <a:ext cx="10171550" cy="3848100"/>
          </a:xfrm>
          <a:prstGeom prst="rect">
            <a:avLst/>
          </a:prstGeom>
          <a:ln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2172637"/>
            <a:ext cx="11008752" cy="400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93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Demo of work 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16864" y="1593850"/>
            <a:ext cx="10232136" cy="4479926"/>
          </a:xfrm>
        </p:spPr>
        <p:txBody>
          <a:bodyPr>
            <a:normAutofit/>
          </a:bodyPr>
          <a:lstStyle/>
          <a:p>
            <a:r>
              <a:rPr lang="en-US" dirty="0" smtClean="0"/>
              <a:t>Query Response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/>
                </a:solidFill>
              </a:rPr>
              <a:t>CapstoneConnect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CS-FYP    DHA Suffa University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2177744"/>
            <a:ext cx="10951715" cy="4197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702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Demo of work 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Database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/>
                </a:solidFill>
              </a:rPr>
              <a:t>CapstoneConnect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CS-FYP    DHA Suffa University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image17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054769" y="2473326"/>
            <a:ext cx="9420726" cy="36068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976200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Demo of work 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Portal Architecture:</a:t>
            </a:r>
            <a:endParaRPr lang="en-US" dirty="0"/>
          </a:p>
          <a:p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/>
                </a:solidFill>
              </a:rPr>
              <a:t>CapstoneConnect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CS-FYP    DHA Suffa University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image5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12800" y="2482923"/>
            <a:ext cx="10236200" cy="343661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727624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</a:t>
            </a:r>
            <a:r>
              <a:rPr lang="en-US" dirty="0" smtClean="0"/>
              <a:t>- Reference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Survey references</a:t>
            </a:r>
          </a:p>
          <a:p>
            <a:pPr lvl="1"/>
            <a:r>
              <a:rPr lang="en-US" sz="1700" dirty="0" smtClean="0"/>
              <a:t>Student: </a:t>
            </a:r>
            <a:r>
              <a:rPr lang="en-US" sz="1700" dirty="0" smtClean="0">
                <a:hlinkClick r:id="rId3"/>
              </a:rPr>
              <a:t>https</a:t>
            </a:r>
            <a:r>
              <a:rPr lang="en-US" sz="1700" dirty="0">
                <a:hlinkClick r:id="rId3"/>
              </a:rPr>
              <a:t>://</a:t>
            </a:r>
            <a:r>
              <a:rPr lang="en-US" sz="1700" dirty="0" smtClean="0">
                <a:hlinkClick r:id="rId3"/>
              </a:rPr>
              <a:t>docs.google.com/forms/d/1apoqfz2By7jI_9HFvk14u2crz_xeoh6tHoWciTqNw7w</a:t>
            </a:r>
            <a:endParaRPr lang="en-US" sz="1700" dirty="0"/>
          </a:p>
          <a:p>
            <a:pPr lvl="1"/>
            <a:r>
              <a:rPr lang="en-US" sz="1700" dirty="0" smtClean="0"/>
              <a:t>Supervisor: https</a:t>
            </a:r>
            <a:r>
              <a:rPr lang="en-US" sz="1700" dirty="0"/>
              <a:t>://docs.google.com/forms/d/1KUwFyCuYuH_wcVgtBNF2bMwbE6ouuMt9sCjkxq_59ug</a:t>
            </a:r>
            <a:endParaRPr lang="en-US" sz="13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</a:rPr>
              <a:t>CapstoneConnect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CS-FYP    DHA Suffa University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60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7399</TotalTime>
  <Words>521</Words>
  <Application>Microsoft Office PowerPoint</Application>
  <PresentationFormat>Widescreen</PresentationFormat>
  <Paragraphs>118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Calibri</vt:lpstr>
      <vt:lpstr>Tw Cen MT</vt:lpstr>
      <vt:lpstr>Wingdings</vt:lpstr>
      <vt:lpstr>Wingdings 2</vt:lpstr>
      <vt:lpstr>Median</vt:lpstr>
      <vt:lpstr>PowerPoint Presentation</vt:lpstr>
      <vt:lpstr>Summary </vt:lpstr>
      <vt:lpstr>Introduction / Idea</vt:lpstr>
      <vt:lpstr>Jury Members and stakeholders Feedback</vt:lpstr>
      <vt:lpstr>Work Done with respect to Proposed Plan</vt:lpstr>
      <vt:lpstr>Demo of work done</vt:lpstr>
      <vt:lpstr>Demo of work done</vt:lpstr>
      <vt:lpstr>Demo of work done</vt:lpstr>
      <vt:lpstr>Demo of work done</vt:lpstr>
      <vt:lpstr>Demo of work done</vt:lpstr>
      <vt:lpstr>Demo of work done</vt:lpstr>
      <vt:lpstr>Demo of work done</vt:lpstr>
      <vt:lpstr>Demo of work done</vt:lpstr>
      <vt:lpstr>Demo of work done</vt:lpstr>
      <vt:lpstr>Demo of work done</vt:lpstr>
      <vt:lpstr>Demo of work done</vt:lpstr>
      <vt:lpstr>Demo of work done</vt:lpstr>
      <vt:lpstr>Demo of work done</vt:lpstr>
      <vt:lpstr>8- Reference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DSU</dc:creator>
  <cp:lastModifiedBy>Ayushmann Kukreja</cp:lastModifiedBy>
  <cp:revision>47</cp:revision>
  <dcterms:created xsi:type="dcterms:W3CDTF">2023-11-15T05:52:29Z</dcterms:created>
  <dcterms:modified xsi:type="dcterms:W3CDTF">2024-03-08T17:42:55Z</dcterms:modified>
</cp:coreProperties>
</file>